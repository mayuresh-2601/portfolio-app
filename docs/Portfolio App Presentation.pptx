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Relationship Id="rId23" Type="http://schemas.openxmlformats.org/officeDocument/2006/relationships/image" Target="../media/image53.png"/><Relationship Id="rId24" Type="http://schemas.openxmlformats.org/officeDocument/2006/relationships/image" Target="../media/image54.png"/><Relationship Id="rId25" Type="http://schemas.openxmlformats.org/officeDocument/2006/relationships/image" Target="../media/image5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5.png"/><Relationship Id="rId5" Type="http://schemas.openxmlformats.org/officeDocument/2006/relationships/image" Target="../media/image71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37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0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19250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184499"/>
            <a:ext cx="2495252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906589"/>
            <a:ext cx="5457825" cy="7762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17567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2536924"/>
            <a:ext cx="5730716" cy="50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Portfolio </a:t>
            </a:r>
            <a:r>
              <a:rPr b="1" sz="3600" i="0" u="none">
                <a:solidFill>
                  <a:srgbClr val="FFFFFF"/>
                </a:solidFill>
                <a:latin typeface="Plus Jakarta Sans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3192214"/>
            <a:ext cx="54578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CA3AF"/>
                </a:solidFill>
                <a:latin typeface="Plus Jakarta Sans"/>
              </a:rPr>
              <a:t>A Production-Style Full-Stack Application with AI &amp; Live DevOps Monitoring.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628775"/>
            <a:ext cx="5438775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251174"/>
            <a:ext cx="138707" cy="104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6325" y="4106614"/>
            <a:ext cx="252031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Mayuresh Kasar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306639"/>
            <a:ext cx="24003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Full-Stack Developer &amp; DevOps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511426"/>
            <a:ext cx="2400300" cy="17145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38BDF8"/>
                </a:solidFill>
                <a:latin typeface="JetBrains Mono"/>
              </a:rPr>
              <a:t>portfolio-app-tau-lac.vercel.app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325" y="4540001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885950"/>
            <a:ext cx="2681287" cy="438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1885950"/>
            <a:ext cx="2681287" cy="438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2419350"/>
            <a:ext cx="2681287" cy="438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2312" y="2419350"/>
            <a:ext cx="2681287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952750"/>
            <a:ext cx="2681287" cy="438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2952750"/>
            <a:ext cx="2681287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486150"/>
            <a:ext cx="2681287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3486150"/>
            <a:ext cx="2681287" cy="438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019550"/>
            <a:ext cx="2681287" cy="4381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4019550"/>
            <a:ext cx="2681287" cy="4381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552950"/>
            <a:ext cx="2681287" cy="4381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4552950"/>
            <a:ext cx="2681287" cy="4381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086350"/>
            <a:ext cx="2681287" cy="4381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5086350"/>
            <a:ext cx="2681287" cy="4381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81200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137" y="1981200"/>
            <a:ext cx="2476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514600"/>
            <a:ext cx="24765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6137" y="2514600"/>
            <a:ext cx="2476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048000"/>
            <a:ext cx="2476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6137" y="3048000"/>
            <a:ext cx="24765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581400"/>
            <a:ext cx="24765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86137" y="3581400"/>
            <a:ext cx="247650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114800"/>
            <a:ext cx="24765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6137" y="4114800"/>
            <a:ext cx="247650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648200"/>
            <a:ext cx="247650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86137" y="4648200"/>
            <a:ext cx="247650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5181600"/>
            <a:ext cx="247650" cy="247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6137" y="5181600"/>
            <a:ext cx="247650" cy="247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52500" y="2028825"/>
            <a:ext cx="1019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Project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9037" y="2028825"/>
            <a:ext cx="647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Tech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2562225"/>
            <a:ext cx="1228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System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9037" y="2562225"/>
            <a:ext cx="1571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Core Application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" y="3095625"/>
            <a:ext cx="1362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AI Integration (Gemini)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9037" y="3095625"/>
            <a:ext cx="1104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Live DevOps Panel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2500" y="3629025"/>
            <a:ext cx="1543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Containerization (Docker)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9037" y="3629025"/>
            <a:ext cx="876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CI/CD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500" y="4162425"/>
            <a:ext cx="1114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Database Schema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9037" y="4162425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Security Practices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500" y="4695825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Challenges &amp; Fixes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29037" y="4695825"/>
            <a:ext cx="1428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Production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500" y="5229225"/>
            <a:ext cx="619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Live 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9037" y="5229225"/>
            <a:ext cx="1019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5E7EB"/>
                </a:solidFill>
                <a:latin typeface="Plus Jakarta Sans SemiBold"/>
              </a:rPr>
              <a:t>Roadmap &amp; Q&amp;A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What We'll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Cover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386012"/>
            <a:ext cx="2270968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643312"/>
            <a:ext cx="5457825" cy="139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2738437"/>
            <a:ext cx="573071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3F4F6"/>
                </a:solidFill>
                <a:latin typeface="Plus Jakarta Sans"/>
              </a:rPr>
              <a:t>Beyond Static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3090862"/>
            <a:ext cx="54578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A real full-stack web application built from scratch to demonstrate authentic engineering capability with working evidence.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452687"/>
            <a:ext cx="110132" cy="104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824287"/>
            <a:ext cx="5057775" cy="2000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Custom Backend &amp; Auth: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Node/Express with JWT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00512"/>
            <a:ext cx="5057775" cy="2000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Admin CMS: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Full dynamic content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76737"/>
            <a:ext cx="5057775" cy="20002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Grounded AI: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Contextual visitor query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52962"/>
            <a:ext cx="5057775" cy="20002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Live Telemetry: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Real OS metric streaming panel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857625"/>
            <a:ext cx="13335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133850"/>
            <a:ext cx="13335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10075"/>
            <a:ext cx="1714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686300"/>
            <a:ext cx="1333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Project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Overview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233612"/>
            <a:ext cx="2671762" cy="1543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837" y="2233612"/>
            <a:ext cx="2671762" cy="1543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890962"/>
            <a:ext cx="2671762" cy="1285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837" y="3890962"/>
            <a:ext cx="2671762" cy="1285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414587"/>
            <a:ext cx="3810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2890837"/>
            <a:ext cx="238529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Frontend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862" y="2414587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1862" y="2890837"/>
            <a:ext cx="238529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Backend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071937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4548187"/>
            <a:ext cx="238529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Database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862" y="4071937"/>
            <a:ext cx="3810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71862" y="4548187"/>
            <a:ext cx="238529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DevOps &amp; AI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528887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128962"/>
            <a:ext cx="60960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3025" y="3128962"/>
            <a:ext cx="49530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5950" y="3128962"/>
            <a:ext cx="7810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386137"/>
            <a:ext cx="8953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5687" y="2528887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1862" y="3128962"/>
            <a:ext cx="552450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71937" y="3128962"/>
            <a:ext cx="66675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86312" y="3128962"/>
            <a:ext cx="32385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1862" y="3386137"/>
            <a:ext cx="723900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625" y="4186237"/>
            <a:ext cx="1333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4786312"/>
            <a:ext cx="72390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57325" y="4786312"/>
            <a:ext cx="49530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00250" y="4786312"/>
            <a:ext cx="723900" cy="2095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67112" y="4186237"/>
            <a:ext cx="1905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1862" y="4786312"/>
            <a:ext cx="495300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14787" y="4786312"/>
            <a:ext cx="952500" cy="2095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14912" y="4786312"/>
            <a:ext cx="723900" cy="2095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Technology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3195637"/>
            <a:ext cx="5457825" cy="142875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8BDF8"/>
                </a:solidFill>
                <a:latin typeface="Plus Jakarta Sans"/>
              </a:rPr>
              <a:t>REST API calls (axios)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4071937"/>
            <a:ext cx="5457825" cy="142875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8BDF8"/>
                </a:solidFill>
                <a:latin typeface="Plus Jakarta Sans"/>
              </a:rPr>
              <a:t>mysql2 &amp; HTTPS SSL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733675"/>
            <a:ext cx="2381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325" y="3214687"/>
            <a:ext cx="85725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609975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4612" y="4090987"/>
            <a:ext cx="85725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486275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2671762"/>
            <a:ext cx="1562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Plus Jakarta Sans"/>
              </a:rPr>
              <a:t>Client Layer (Vercel)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2843212"/>
            <a:ext cx="1781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CA3AF"/>
                </a:solidFill>
                <a:latin typeface="Plus Jakarta Sans"/>
              </a:rPr>
              <a:t>React 18 + Vite 6 Single Page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48062"/>
            <a:ext cx="18192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Plus Jakarta Sans"/>
              </a:rPr>
              <a:t>Server Layer (Render Service)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19512"/>
            <a:ext cx="1819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CA3AF"/>
                </a:solidFill>
                <a:latin typeface="Plus Jakarta Sans"/>
              </a:rPr>
              <a:t>Node.js / Express 5 API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24362"/>
            <a:ext cx="16097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Plus Jakarta Sans"/>
              </a:rPr>
              <a:t>Persistence &amp; Cloud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5812"/>
            <a:ext cx="18383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CA3AF"/>
                </a:solidFill>
                <a:latin typeface="Plus Jakarta Sans"/>
              </a:rPr>
              <a:t>TiDB Cloud DB + Google Gemini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System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451496"/>
            <a:ext cx="5457825" cy="7596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325415"/>
            <a:ext cx="5457825" cy="7596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199334"/>
            <a:ext cx="5457825" cy="75961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632471"/>
            <a:ext cx="5310663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Dark Glassmorphism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1546"/>
            <a:ext cx="5057775" cy="178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0" u="none">
                <a:solidFill>
                  <a:srgbClr val="CBD5E1"/>
                </a:solidFill>
                <a:latin typeface="Plus Jakarta Sans"/>
              </a:rPr>
              <a:t>Responsive aesthetic with Framer Motion animations across all screen sizes.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06390"/>
            <a:ext cx="5310663" cy="180975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Dynamic DB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25465"/>
            <a:ext cx="5057775" cy="178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0" u="none">
                <a:solidFill>
                  <a:srgbClr val="CBD5E1"/>
                </a:solidFill>
                <a:latin typeface="Plus Jakarta Sans"/>
              </a:rPr>
              <a:t>Projects, Skills, and Certificates are database-driven.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0309"/>
            <a:ext cx="5310663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HttpOnly JWT + CSRF Admin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99384"/>
            <a:ext cx="5057775" cy="178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0" u="none">
                <a:solidFill>
                  <a:srgbClr val="CBD5E1"/>
                </a:solidFill>
                <a:latin typeface="Plus Jakarta Sans"/>
              </a:rPr>
              <a:t>Full CRUD management with Cloudinary cloud media uploads.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661046"/>
            <a:ext cx="1428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534965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08884"/>
            <a:ext cx="142875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Core Application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440781"/>
            <a:ext cx="5457825" cy="7786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333750"/>
            <a:ext cx="5457825" cy="7786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226718"/>
            <a:ext cx="5457825" cy="742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621756"/>
            <a:ext cx="5310663" cy="2000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Interactive AI Explanations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9881"/>
            <a:ext cx="5057775" cy="178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0" u="none">
                <a:solidFill>
                  <a:srgbClr val="CBD5E1"/>
                </a:solidFill>
                <a:latin typeface="Plus Jakarta Sans"/>
              </a:rPr>
              <a:t>Clicking skills or certificates invokes Gemini for clear plain-language technical summaries.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14725"/>
            <a:ext cx="5310663" cy="2000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084FC"/>
                </a:solidFill>
                <a:latin typeface="Plus Jakarta Sans"/>
              </a:rPr>
              <a:t>"Ask AI About Me"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52850"/>
            <a:ext cx="5057775" cy="178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0" u="none">
                <a:solidFill>
                  <a:srgbClr val="CBD5E1"/>
                </a:solidFill>
                <a:latin typeface="Plus Jakarta Sans"/>
              </a:rPr>
              <a:t>Grounded strictly in actual listed qualifications to prevent hallucinated background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07693"/>
            <a:ext cx="5310663" cy="17145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34D399"/>
                </a:solidFill>
                <a:latin typeface="Plus Jakarta Sans"/>
              </a:rPr>
              <a:t>Rate Limiting &amp; Fallbacks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7243"/>
            <a:ext cx="5057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"/>
              </a:rPr>
              <a:t>Per-IP throttling protects the paid AI API from abuse.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650331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543300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36268"/>
            <a:ext cx="142875" cy="1381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AI Integration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(Google Gemini)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90525"/>
            <a:ext cx="5276850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233737"/>
            <a:ext cx="5276850" cy="121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742950"/>
            <a:ext cx="5540692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Live DevOps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Monitoring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7200"/>
            <a:ext cx="110132" cy="1047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5775" y="11049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775" y="3024187"/>
            <a:ext cx="5276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The /system page polls real live metrics from the backend every 5 seconds: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4548187"/>
            <a:ext cx="5276850" cy="17145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CA3AF"/>
                </a:solidFill>
                <a:latin typeface="Plus Jakarta Sans"/>
              </a:rPr>
              <a:t>Terminal-style live log refreshes every 5 seconds.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576762"/>
            <a:ext cx="114300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357562"/>
            <a:ext cx="5029200" cy="2000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CPU Load &amp; Memory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614737"/>
            <a:ext cx="5029200" cy="2000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Live Host Uptime (50+ Days)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871912"/>
            <a:ext cx="5029200" cy="2000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Docker vs Bare-Node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129087"/>
            <a:ext cx="5029200" cy="2000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Git Commit Hash Verification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390900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648075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905250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162425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420540"/>
            <a:ext cx="5457825" cy="17121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246959"/>
            <a:ext cx="5457825" cy="742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01515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077765"/>
            <a:ext cx="531066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Multi-Stage Container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5890"/>
            <a:ext cx="5057775" cy="178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0" u="none">
                <a:solidFill>
                  <a:srgbClr val="CBD5E1"/>
                </a:solidFill>
                <a:latin typeface="Plus Jakarta Sans"/>
              </a:rPr>
              <a:t>Independent Dockerfiles for Client (Nginx) and Server (Node.js).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27934"/>
            <a:ext cx="531066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34D399"/>
                </a:solidFill>
                <a:latin typeface="Plus Jakarta Sans"/>
              </a:rPr>
              <a:t>Local Dev Parity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37484"/>
            <a:ext cx="5057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"/>
              </a:rPr>
              <a:t>Docker Compose mirrors cloud production environment.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715815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3551634"/>
            <a:ext cx="5057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Non-root process execution for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51659"/>
            <a:ext cx="5057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• Minimal alpine base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Containerization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(Docker)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817018"/>
            <a:ext cx="2671762" cy="8310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837" y="2817018"/>
            <a:ext cx="2671762" cy="8310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762375"/>
            <a:ext cx="2671762" cy="83105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1837" y="3762375"/>
            <a:ext cx="2671762" cy="83105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7700" y="2959893"/>
            <a:ext cx="23479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38BDF8"/>
                </a:solidFill>
                <a:latin typeface="JetBrains Mono"/>
              </a:rPr>
              <a:t>STAGE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3131343"/>
            <a:ext cx="2465308" cy="17145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Hadolint Linting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340893"/>
            <a:ext cx="2347912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Plus Jakarta Sans"/>
              </a:rPr>
              <a:t>Enforces Dockerfile best practices.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3762" y="2959893"/>
            <a:ext cx="23479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38BDF8"/>
                </a:solidFill>
                <a:latin typeface="JetBrains Mono"/>
              </a:rPr>
              <a:t>STAGE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3762" y="3131343"/>
            <a:ext cx="2465308" cy="17145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Stack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3762" y="3340893"/>
            <a:ext cx="2347912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Plus Jakarta Sans"/>
              </a:rPr>
              <a:t>Validates Compose &amp; builds images.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3905250"/>
            <a:ext cx="23479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38BDF8"/>
                </a:solidFill>
                <a:latin typeface="JetBrains Mono"/>
              </a:rPr>
              <a:t>STAGE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076700"/>
            <a:ext cx="2465308" cy="17145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Smoke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4286250"/>
            <a:ext cx="2347912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Plus Jakarta Sans"/>
              </a:rPr>
              <a:t>Spins stack &amp; verifies endpoints.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3762" y="3905250"/>
            <a:ext cx="23479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34D399"/>
                </a:solidFill>
                <a:latin typeface="JetBrains Mono"/>
              </a:rPr>
              <a:t>STAGE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3762" y="4076700"/>
            <a:ext cx="2465308" cy="17145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CI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3762" y="4286250"/>
            <a:ext cx="2347912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Plus Jakarta Sans"/>
              </a:rPr>
              <a:t>Uploads Docker logs when CI fails.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159918"/>
            <a:ext cx="1714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762" y="3159918"/>
            <a:ext cx="1524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4105275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3762" y="4105275"/>
            <a:ext cx="133350" cy="133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CI Pipeline (GitHub Actions)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5775" y="2600325"/>
            <a:ext cx="5457825" cy="22098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5775" y="2600325"/>
          <a:ext cx="5448299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31887"/>
                <a:gridCol w="3916412"/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Core Fields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8BDF8"/>
                          </a:solidFill>
                          <a:latin typeface="JetBrains Mono"/>
                        </a:rPr>
                        <a:t>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E2E8F0"/>
                          </a:solidFill>
                          <a:latin typeface="JetBrains Mono"/>
                        </a:rPr>
                        <a:t>id, username, password_hash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8BDF8"/>
                          </a:solidFill>
                          <a:latin typeface="JetBrains Mono"/>
                        </a:rPr>
                        <a:t>projects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E2E8F0"/>
                          </a:solidFill>
                          <a:latin typeface="JetBrains Mono"/>
                        </a:rPr>
                        <a:t>id, title, desc, github_url, demo_url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8BDF8"/>
                          </a:solidFill>
                          <a:latin typeface="JetBrains Mono"/>
                        </a:rPr>
                        <a:t>skills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E2E8F0"/>
                          </a:solidFill>
                          <a:latin typeface="JetBrains Mono"/>
                        </a:rPr>
                        <a:t>id, name, proficiency_level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8BDF8"/>
                          </a:solidFill>
                          <a:latin typeface="JetBrains Mono"/>
                        </a:rPr>
                        <a:t>certificates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E2E8F0"/>
                          </a:solidFill>
                          <a:latin typeface="JetBrains Mono"/>
                        </a:rPr>
                        <a:t>id, title, issuer, credential_url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8BDF8"/>
                          </a:solidFill>
                          <a:latin typeface="JetBrains Mono"/>
                        </a:rPr>
                        <a:t>messages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E2E8F0"/>
                          </a:solidFill>
                          <a:latin typeface="JetBrains Mono"/>
                        </a:rPr>
                        <a:t>id, sender_name, email, message_text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90537" y="2986087"/>
            <a:ext cx="1531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22425" y="2986087"/>
            <a:ext cx="39164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0537" y="3348037"/>
            <a:ext cx="1531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22425" y="3348037"/>
            <a:ext cx="39164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0537" y="3709987"/>
            <a:ext cx="1531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22425" y="3709987"/>
            <a:ext cx="39164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0537" y="4071937"/>
            <a:ext cx="1531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2425" y="4071937"/>
            <a:ext cx="39164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0537" y="4433887"/>
            <a:ext cx="1531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22425" y="4433887"/>
            <a:ext cx="39164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0537" y="4795837"/>
            <a:ext cx="1531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22425" y="4795837"/>
            <a:ext cx="39164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Database Design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(TiDB Cloud)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493168"/>
            <a:ext cx="2681287" cy="11644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2493168"/>
            <a:ext cx="2681287" cy="11644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752850"/>
            <a:ext cx="2681287" cy="11644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2312" y="3752850"/>
            <a:ext cx="2681287" cy="116443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674143"/>
            <a:ext cx="3810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150393"/>
            <a:ext cx="239529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Plus Jakarta Sans"/>
              </a:rPr>
              <a:t>Auth &amp;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12318"/>
            <a:ext cx="2281237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Plus Jakarta Sans"/>
              </a:rPr>
              <a:t>JWT + bcrypt with HttpOnly cookie sessions.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2337" y="2674143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62337" y="3150393"/>
            <a:ext cx="239529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Plus Jakarta Sans"/>
              </a:rPr>
              <a:t>Helmet Headers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2337" y="3312318"/>
            <a:ext cx="2281237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Plus Jakarta Sans"/>
              </a:rPr>
              <a:t>Security headers and strict frontend origin.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33825"/>
            <a:ext cx="3810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4410075"/>
            <a:ext cx="239529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Plus Jakarta Sans"/>
              </a:rPr>
              <a:t>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2281237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Plus Jakarta Sans"/>
              </a:rPr>
              <a:t>Login, contact, AI limits + CSRF checks for admin mutations.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2337" y="3933825"/>
            <a:ext cx="3810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62337" y="4410075"/>
            <a:ext cx="239529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Plus Jakarta Sans"/>
              </a:rPr>
              <a:t>Secrets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2337" y="4572000"/>
            <a:ext cx="2281237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Plus Jakarta Sans"/>
              </a:rPr>
              <a:t>Real .env files and Git history excluded from release ZIPs.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788443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6637" y="2788443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048125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6162" y="4048125"/>
            <a:ext cx="13335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Security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by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566987"/>
            <a:ext cx="5457825" cy="695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357562"/>
            <a:ext cx="5457825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148137"/>
            <a:ext cx="5457825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690812"/>
            <a:ext cx="1231106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967037"/>
            <a:ext cx="521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CBD5E1"/>
                </a:solidFill>
                <a:latin typeface="Plus Jakarta Sans"/>
              </a:rPr>
              <a:t>Fix:</a:t>
            </a:r>
            <a:r>
              <a:rPr b="0" sz="900" i="0" u="none">
                <a:solidFill>
                  <a:srgbClr val="CBD5E1"/>
                </a:solidFill>
                <a:latin typeface="Plus Jakarta Sans"/>
              </a:rPr>
              <a:t> Decoupled DB SSL enforcement from </a:t>
            </a:r>
            <a:r>
              <a:rPr b="0" sz="900" i="0" u="none">
                <a:solidFill>
                  <a:srgbClr val="CBD5E1"/>
                </a:solidFill>
                <a:latin typeface="Plus Jakarta Sans"/>
              </a:rPr>
              <a:t>NODE_ENV</a:t>
            </a:r>
            <a:r>
              <a:rPr b="0" sz="900" i="0" u="none">
                <a:solidFill>
                  <a:srgbClr val="CBD5E1"/>
                </a:solidFill>
                <a:latin typeface="Plus Jakarta Sans"/>
              </a:rPr>
              <a:t> for local CI MySQL testing.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81387"/>
            <a:ext cx="1201638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757612"/>
            <a:ext cx="521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CBD5E1"/>
                </a:solidFill>
                <a:latin typeface="Plus Jakarta Sans"/>
              </a:rPr>
              <a:t>Fix:</a:t>
            </a:r>
            <a:r>
              <a:rPr b="0" sz="900" i="0" u="none">
                <a:solidFill>
                  <a:srgbClr val="CBD5E1"/>
                </a:solidFill>
                <a:latin typeface="Plus Jakarta Sans"/>
              </a:rPr>
              <a:t> Handled 3 rounds of API model deprecations via dynamic error log tracing &amp; fallbacks.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271962"/>
            <a:ext cx="1417439" cy="238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48187"/>
            <a:ext cx="521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CBD5E1"/>
                </a:solidFill>
                <a:latin typeface="Plus Jakarta Sans"/>
              </a:rPr>
              <a:t>Fix:</a:t>
            </a:r>
            <a:r>
              <a:rPr b="0" sz="900" i="0" u="none">
                <a:solidFill>
                  <a:srgbClr val="CBD5E1"/>
                </a:solidFill>
                <a:latin typeface="Plus Jakarta Sans"/>
              </a:rPr>
              <a:t> Corrected SQL schema scripts writing to default system databases.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Challenges &amp;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Real Fixes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95475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652712"/>
            <a:ext cx="5457825" cy="638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386137"/>
            <a:ext cx="5457825" cy="638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119562"/>
            <a:ext cx="5457825" cy="638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905000"/>
            <a:ext cx="543877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776537"/>
            <a:ext cx="547068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Frontend: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95612"/>
            <a:ext cx="521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"/>
              </a:rPr>
              <a:t>Production frontend target with the backend URL configured via environment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09962"/>
            <a:ext cx="547068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084FC"/>
                </a:solidFill>
                <a:latin typeface="Plus Jakarta Sans"/>
              </a:rPr>
              <a:t>Backend: 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29037"/>
            <a:ext cx="521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Node web service with /api/health checks; deploy the latest repository commit.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43387"/>
            <a:ext cx="547068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4D399"/>
                </a:solidFill>
                <a:latin typeface="Plus Jakarta Sans"/>
              </a:rPr>
              <a:t>Database: TiDB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62462"/>
            <a:ext cx="521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"/>
              </a:rPr>
              <a:t>MySQL-compatible database with TLS and connection pooling.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Production </a:t>
            </a:r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19250"/>
            <a:ext cx="54578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063353"/>
            <a:ext cx="1488430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634978"/>
            <a:ext cx="5457825" cy="1169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2415778"/>
            <a:ext cx="573071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What's Next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1628775"/>
            <a:ext cx="5438775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130028"/>
            <a:ext cx="119657" cy="1047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275" y="2730103"/>
            <a:ext cx="52673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WebSocket Live Push: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Replace 5s HTTP polling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006328"/>
            <a:ext cx="524827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Linux VM Instance: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Deploy behind Nginx reverse 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3282553"/>
            <a:ext cx="52768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Theme Switcher: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Dynamic dark / light theme 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3777853"/>
            <a:ext cx="543067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4082653"/>
            <a:ext cx="5172075" cy="1928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38BDF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4332684"/>
            <a:ext cx="5172075" cy="328612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CBD5E1"/>
                </a:solidFill>
                <a:latin typeface="JetBrains Mono"/>
              </a:rPr>
              <a:t>portfolio-app-tau-lac.vercel.app</a:t>
            </a:r>
            <a:r>
              <a:t>
</a:t>
            </a:r>
            <a:r>
              <a:rPr b="0" sz="862" i="0" u="none">
                <a:solidFill>
                  <a:srgbClr val="CBD5E1"/>
                </a:solidFill>
                <a:latin typeface="JetBrains Mono"/>
              </a:rPr>
              <a:t> github.com/mayuresh-2601/PORTFOLIO-APP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4370784"/>
            <a:ext cx="114300" cy="109537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535090"/>
            <a:ext cx="104775" cy="109537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2758678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" y="3034903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" y="3311128"/>
            <a:ext cx="1047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5775" y="2938462"/>
            <a:ext cx="112204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5775" y="3700462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5775" y="3700462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08133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1150" y="3088481"/>
            <a:ext cx="101250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https://www.mdpi.com/applsci/applsci-12-06737/article_deploy/html/images/applsci-12-06737-g003-550.jpg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150" y="3321843"/>
            <a:ext cx="101250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www.mdpi.com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85286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150" y="3860006"/>
            <a:ext cx="101250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https://miro.medium.com/1*rMS2O3n_Nngj6pwRo3gRuA.png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150" y="4093368"/>
            <a:ext cx="101250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390525"/>
            <a:ext cx="117062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9FAFB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775" y="752475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