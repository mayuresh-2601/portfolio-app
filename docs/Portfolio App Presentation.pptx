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Relationship Id="rId15" Type="http://schemas.openxmlformats.org/officeDocument/2006/relationships/image" Target="../media/image20.png"/><Relationship Id="rId16" Type="http://schemas.openxmlformats.org/officeDocument/2006/relationships/image" Target="../media/image21.png"/><Relationship Id="rId17" Type="http://schemas.openxmlformats.org/officeDocument/2006/relationships/image" Target="../media/image22.png"/><Relationship Id="rId18" Type="http://schemas.openxmlformats.org/officeDocument/2006/relationships/image" Target="../media/image23.png"/><Relationship Id="rId19" Type="http://schemas.openxmlformats.org/officeDocument/2006/relationships/image" Target="../media/image24.png"/><Relationship Id="rId20" Type="http://schemas.openxmlformats.org/officeDocument/2006/relationships/image" Target="../media/image2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image" Target="../media/image3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42.png"/><Relationship Id="rId13" Type="http://schemas.openxmlformats.org/officeDocument/2006/relationships/image" Target="../media/image43.png"/><Relationship Id="rId14" Type="http://schemas.openxmlformats.org/officeDocument/2006/relationships/image" Target="../media/image44.png"/><Relationship Id="rId15" Type="http://schemas.openxmlformats.org/officeDocument/2006/relationships/image" Target="../media/image45.png"/><Relationship Id="rId16" Type="http://schemas.openxmlformats.org/officeDocument/2006/relationships/image" Target="../media/image46.png"/><Relationship Id="rId17" Type="http://schemas.openxmlformats.org/officeDocument/2006/relationships/image" Target="../media/image47.png"/><Relationship Id="rId18" Type="http://schemas.openxmlformats.org/officeDocument/2006/relationships/image" Target="../media/image48.png"/><Relationship Id="rId19" Type="http://schemas.openxmlformats.org/officeDocument/2006/relationships/image" Target="../media/image49.png"/><Relationship Id="rId20" Type="http://schemas.openxmlformats.org/officeDocument/2006/relationships/image" Target="../media/image50.png"/><Relationship Id="rId21" Type="http://schemas.openxmlformats.org/officeDocument/2006/relationships/image" Target="../media/image51.png"/><Relationship Id="rId22" Type="http://schemas.openxmlformats.org/officeDocument/2006/relationships/image" Target="../media/image52.png"/><Relationship Id="rId23" Type="http://schemas.openxmlformats.org/officeDocument/2006/relationships/image" Target="../media/image53.png"/><Relationship Id="rId24" Type="http://schemas.openxmlformats.org/officeDocument/2006/relationships/image" Target="../media/image54.png"/><Relationship Id="rId25" Type="http://schemas.openxmlformats.org/officeDocument/2006/relationships/image" Target="../media/image5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6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6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Relationship Id="rId8" Type="http://schemas.openxmlformats.org/officeDocument/2006/relationships/image" Target="../media/image73.png"/><Relationship Id="rId9" Type="http://schemas.openxmlformats.org/officeDocument/2006/relationships/image" Target="../media/image74.png"/><Relationship Id="rId10" Type="http://schemas.openxmlformats.org/officeDocument/2006/relationships/image" Target="../media/image7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Relationship Id="rId10" Type="http://schemas.openxmlformats.org/officeDocument/2006/relationships/image" Target="../media/image83.png"/><Relationship Id="rId11" Type="http://schemas.openxmlformats.org/officeDocument/2006/relationships/image" Target="../media/image8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5.png"/><Relationship Id="rId5" Type="http://schemas.openxmlformats.org/officeDocument/2006/relationships/image" Target="../media/image71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7.png"/><Relationship Id="rId5" Type="http://schemas.openxmlformats.org/officeDocument/2006/relationships/image" Target="../media/image98.png"/><Relationship Id="rId6" Type="http://schemas.openxmlformats.org/officeDocument/2006/relationships/image" Target="../media/image99.png"/><Relationship Id="rId7" Type="http://schemas.openxmlformats.org/officeDocument/2006/relationships/image" Target="../media/image37.png"/><Relationship Id="rId8" Type="http://schemas.openxmlformats.org/officeDocument/2006/relationships/image" Target="../media/image100.png"/><Relationship Id="rId9" Type="http://schemas.openxmlformats.org/officeDocument/2006/relationships/image" Target="../media/image101.png"/><Relationship Id="rId10" Type="http://schemas.openxmlformats.org/officeDocument/2006/relationships/image" Target="../media/image102.png"/><Relationship Id="rId11" Type="http://schemas.openxmlformats.org/officeDocument/2006/relationships/image" Target="../media/image103.png"/><Relationship Id="rId12" Type="http://schemas.openxmlformats.org/officeDocument/2006/relationships/image" Target="../media/image10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Relationship Id="rId7" Type="http://schemas.openxmlformats.org/officeDocument/2006/relationships/image" Target="../media/image108.png"/><Relationship Id="rId8" Type="http://schemas.openxmlformats.org/officeDocument/2006/relationships/image" Target="../media/image10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0.png"/><Relationship Id="rId5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1.png"/><Relationship Id="rId5" Type="http://schemas.openxmlformats.org/officeDocument/2006/relationships/image" Target="../media/image112.png"/><Relationship Id="rId6" Type="http://schemas.openxmlformats.org/officeDocument/2006/relationships/image" Target="../media/image113.png"/><Relationship Id="rId7" Type="http://schemas.openxmlformats.org/officeDocument/2006/relationships/image" Target="../media/image114.png"/><Relationship Id="rId8" Type="http://schemas.openxmlformats.org/officeDocument/2006/relationships/image" Target="../media/image115.png"/><Relationship Id="rId9" Type="http://schemas.openxmlformats.org/officeDocument/2006/relationships/image" Target="../media/image116.png"/><Relationship Id="rId10" Type="http://schemas.openxmlformats.org/officeDocument/2006/relationships/image" Target="../media/image117.png"/><Relationship Id="rId11" Type="http://schemas.openxmlformats.org/officeDocument/2006/relationships/image" Target="../media/image118.png"/><Relationship Id="rId12" Type="http://schemas.openxmlformats.org/officeDocument/2006/relationships/image" Target="../media/image1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0.png"/><Relationship Id="rId4" Type="http://schemas.openxmlformats.org/officeDocument/2006/relationships/image" Target="../media/image1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619250"/>
            <a:ext cx="5457825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184499"/>
            <a:ext cx="2495252" cy="2381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" y="3906589"/>
            <a:ext cx="5457825" cy="77628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775" y="4175670"/>
            <a:ext cx="438150" cy="438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2536924"/>
            <a:ext cx="5730716" cy="50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b="1" sz="3600" i="0" u="none">
                <a:solidFill>
                  <a:srgbClr val="FFFFFF"/>
                </a:solidFill>
                <a:latin typeface="Plus Jakarta Sans"/>
              </a:rPr>
              <a:t>Portfolio </a:t>
            </a:r>
            <a:r>
              <a:rPr b="1" sz="3600" i="0" u="none">
                <a:solidFill>
                  <a:srgbClr val="FFFFFF"/>
                </a:solidFill>
                <a:latin typeface="Plus Jakarta Sans"/>
              </a:rPr>
              <a:t>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5775" y="3192214"/>
            <a:ext cx="5457825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b="0" sz="1275" i="0" u="none">
                <a:solidFill>
                  <a:srgbClr val="9CA3AF"/>
                </a:solidFill>
                <a:latin typeface="Plus Jakarta Sans"/>
              </a:rPr>
              <a:t>A Production-Grade Full-Stack Application with AI &amp; Real-Time DevOps Integration.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7925" y="1628775"/>
            <a:ext cx="5438775" cy="36004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251174"/>
            <a:ext cx="138707" cy="1047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6325" y="4106614"/>
            <a:ext cx="252031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FFFFFF"/>
                </a:solidFill>
                <a:latin typeface="Plus Jakarta Sans"/>
              </a:rPr>
              <a:t>Mayuresh Kasar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6325" y="4306639"/>
            <a:ext cx="2400300" cy="185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b="0" sz="975" i="0" u="none">
                <a:solidFill>
                  <a:srgbClr val="9CA3AF"/>
                </a:solidFill>
                <a:latin typeface="Plus Jakarta Sans"/>
              </a:rPr>
              <a:t>Full-Stack Developer &amp; DevOps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325" y="4511426"/>
            <a:ext cx="2400300" cy="171450"/>
          </a:xfrm>
          <a:prstGeom prst="rect">
            <a:avLst/>
          </a:prstGeom>
          <a:noFill/>
        </p:spPr>
        <p:txBody>
          <a:bodyPr wrap="square" lIns="11430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0" sz="900" i="0" u="none">
                <a:solidFill>
                  <a:srgbClr val="38BDF8"/>
                </a:solidFill>
                <a:latin typeface="JetBrains Mono"/>
              </a:rPr>
              <a:t>portfolio-app-tau-lac.vercel.app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6325" y="4540001"/>
            <a:ext cx="1143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5475"/>
            <a:ext cx="5457825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1885950"/>
            <a:ext cx="2681287" cy="4381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312" y="1885950"/>
            <a:ext cx="2681287" cy="4381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" y="2419350"/>
            <a:ext cx="2681287" cy="4381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2312" y="2419350"/>
            <a:ext cx="2681287" cy="4381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952750"/>
            <a:ext cx="2681287" cy="4381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312" y="2952750"/>
            <a:ext cx="2681287" cy="4381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3486150"/>
            <a:ext cx="2681287" cy="4381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312" y="3486150"/>
            <a:ext cx="2681287" cy="4381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4019550"/>
            <a:ext cx="2681287" cy="4381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312" y="4019550"/>
            <a:ext cx="2681287" cy="4381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4552950"/>
            <a:ext cx="2681287" cy="4381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312" y="4552950"/>
            <a:ext cx="2681287" cy="4381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5086350"/>
            <a:ext cx="2681287" cy="4381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312" y="5086350"/>
            <a:ext cx="2681287" cy="4381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981200"/>
            <a:ext cx="247650" cy="2476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6137" y="1981200"/>
            <a:ext cx="247650" cy="2476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514600"/>
            <a:ext cx="247650" cy="2476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6137" y="2514600"/>
            <a:ext cx="247650" cy="2476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048000"/>
            <a:ext cx="247650" cy="2476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86137" y="3048000"/>
            <a:ext cx="247650" cy="2476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3581400"/>
            <a:ext cx="247650" cy="24765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86137" y="3581400"/>
            <a:ext cx="247650" cy="24765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" y="4114800"/>
            <a:ext cx="247650" cy="24765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86137" y="4114800"/>
            <a:ext cx="247650" cy="24765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" y="4648200"/>
            <a:ext cx="247650" cy="24765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86137" y="4648200"/>
            <a:ext cx="247650" cy="24765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9600" y="5181600"/>
            <a:ext cx="247650" cy="24765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86137" y="5181600"/>
            <a:ext cx="247650" cy="24765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57925" y="1905000"/>
            <a:ext cx="5438775" cy="36004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2500" y="2028825"/>
            <a:ext cx="101917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Project Overview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29037" y="2028825"/>
            <a:ext cx="6477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Tech Stack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500" y="2562225"/>
            <a:ext cx="122872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System Architecture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29037" y="2562225"/>
            <a:ext cx="157162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Core Application 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500" y="3095625"/>
            <a:ext cx="136207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AI Integration (Gemini)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29037" y="3095625"/>
            <a:ext cx="1104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Live DevOps Panel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" y="3629025"/>
            <a:ext cx="1543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Containerization (Docker)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29037" y="3629025"/>
            <a:ext cx="8763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CI/CD Pipeline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500" y="4162425"/>
            <a:ext cx="111442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Database Schema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29037" y="4162425"/>
            <a:ext cx="10858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Security Practices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" y="4695825"/>
            <a:ext cx="113347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Challenges &amp; Fixes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29037" y="4695825"/>
            <a:ext cx="1428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Production Deployment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2500" y="5229225"/>
            <a:ext cx="61912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Live Demo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29037" y="5229225"/>
            <a:ext cx="101917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E5E7EB"/>
                </a:solidFill>
                <a:latin typeface="Plus Jakarta Sans SemiBold"/>
              </a:rPr>
              <a:t>Roadmap &amp; Q&amp;A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What We'll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Cover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5475"/>
            <a:ext cx="5457825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386012"/>
            <a:ext cx="2270968" cy="2381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" y="3643312"/>
            <a:ext cx="5457825" cy="1390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2738437"/>
            <a:ext cx="5730716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F3F4F6"/>
                </a:solidFill>
                <a:latin typeface="Plus Jakarta Sans"/>
              </a:rPr>
              <a:t>Beyond Static Templates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5775" y="3090862"/>
            <a:ext cx="5457825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CBD5E1"/>
                </a:solidFill>
                <a:latin typeface="Plus Jakarta Sans"/>
              </a:rPr>
              <a:t>A real full-stack web application built from scratch to demonstrate authentic engineering capability with working evidence.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7925" y="1905000"/>
            <a:ext cx="5438775" cy="3600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452687"/>
            <a:ext cx="110132" cy="1047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824287"/>
            <a:ext cx="5057775" cy="200025"/>
          </a:xfrm>
          <a:prstGeom prst="rect">
            <a:avLst/>
          </a:prstGeom>
          <a:noFill/>
        </p:spPr>
        <p:txBody>
          <a:bodyPr wrap="square" lIns="20955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CBD5E1"/>
                </a:solidFill>
                <a:latin typeface="Plus Jakarta Sans"/>
              </a:rPr>
              <a:t>Custom Backend &amp; Auth:</a:t>
            </a:r>
            <a:r>
              <a:rPr b="0" sz="1050" i="0" u="none">
                <a:solidFill>
                  <a:srgbClr val="CBD5E1"/>
                </a:solidFill>
                <a:latin typeface="Plus Jakarta Sans"/>
              </a:rPr>
              <a:t> Node/Express with JWT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00512"/>
            <a:ext cx="5057775" cy="200025"/>
          </a:xfrm>
          <a:prstGeom prst="rect">
            <a:avLst/>
          </a:prstGeom>
          <a:noFill/>
        </p:spPr>
        <p:txBody>
          <a:bodyPr wrap="square" lIns="20955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CBD5E1"/>
                </a:solidFill>
                <a:latin typeface="Plus Jakarta Sans"/>
              </a:rPr>
              <a:t>Admin CMS:</a:t>
            </a:r>
            <a:r>
              <a:rPr b="0" sz="1050" i="0" u="none">
                <a:solidFill>
                  <a:srgbClr val="CBD5E1"/>
                </a:solidFill>
                <a:latin typeface="Plus Jakarta Sans"/>
              </a:rPr>
              <a:t> Full dynamic content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76737"/>
            <a:ext cx="5057775" cy="200025"/>
          </a:xfrm>
          <a:prstGeom prst="rect">
            <a:avLst/>
          </a:prstGeom>
          <a:noFill/>
        </p:spPr>
        <p:txBody>
          <a:bodyPr wrap="square" lIns="24765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CBD5E1"/>
                </a:solidFill>
                <a:latin typeface="Plus Jakarta Sans"/>
              </a:rPr>
              <a:t>Grounded AI:</a:t>
            </a:r>
            <a:r>
              <a:rPr b="0" sz="1050" i="0" u="none">
                <a:solidFill>
                  <a:srgbClr val="CBD5E1"/>
                </a:solidFill>
                <a:latin typeface="Plus Jakarta Sans"/>
              </a:rPr>
              <a:t> Contextual visitor query handling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652962"/>
            <a:ext cx="5057775" cy="200025"/>
          </a:xfrm>
          <a:prstGeom prst="rect">
            <a:avLst/>
          </a:prstGeom>
          <a:noFill/>
        </p:spPr>
        <p:txBody>
          <a:bodyPr wrap="square" lIns="20955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CBD5E1"/>
                </a:solidFill>
                <a:latin typeface="Plus Jakarta Sans"/>
              </a:rPr>
              <a:t>Live Telemetry:</a:t>
            </a:r>
            <a:r>
              <a:rPr b="0" sz="1050" i="0" u="none">
                <a:solidFill>
                  <a:srgbClr val="CBD5E1"/>
                </a:solidFill>
                <a:latin typeface="Plus Jakarta Sans"/>
              </a:rPr>
              <a:t> Real OS metric streaming panel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857625"/>
            <a:ext cx="133350" cy="1428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133850"/>
            <a:ext cx="133350" cy="1428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4410075"/>
            <a:ext cx="171450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4686300"/>
            <a:ext cx="133350" cy="14287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Project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Overview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5475"/>
            <a:ext cx="5457825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233612"/>
            <a:ext cx="2671762" cy="15430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1837" y="2233612"/>
            <a:ext cx="2671762" cy="15430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" y="3890962"/>
            <a:ext cx="2671762" cy="12858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1837" y="3890962"/>
            <a:ext cx="2671762" cy="12858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7925" y="1905000"/>
            <a:ext cx="5438775" cy="3600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414587"/>
            <a:ext cx="381000" cy="381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2890837"/>
            <a:ext cx="2385298" cy="180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125" i="0" u="none">
                <a:solidFill>
                  <a:srgbClr val="38BDF8"/>
                </a:solidFill>
                <a:latin typeface="Plus Jakarta Sans"/>
              </a:rPr>
              <a:t>Frontend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1862" y="2414587"/>
            <a:ext cx="381000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1862" y="2890837"/>
            <a:ext cx="2385298" cy="180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125" i="0" u="none">
                <a:solidFill>
                  <a:srgbClr val="38BDF8"/>
                </a:solidFill>
                <a:latin typeface="Plus Jakarta Sans"/>
              </a:rPr>
              <a:t>Backend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071937"/>
            <a:ext cx="381000" cy="381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4548187"/>
            <a:ext cx="2385298" cy="180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125" i="0" u="none">
                <a:solidFill>
                  <a:srgbClr val="38BDF8"/>
                </a:solidFill>
                <a:latin typeface="Plus Jakarta Sans"/>
              </a:rPr>
              <a:t>Database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1862" y="4071937"/>
            <a:ext cx="381000" cy="381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71862" y="4548187"/>
            <a:ext cx="2385298" cy="180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125" i="0" u="none">
                <a:solidFill>
                  <a:srgbClr val="38BDF8"/>
                </a:solidFill>
                <a:latin typeface="Plus Jakarta Sans"/>
              </a:rPr>
              <a:t>DevOps &amp; AI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" y="2528887"/>
            <a:ext cx="152400" cy="1524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128962"/>
            <a:ext cx="609600" cy="2095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43025" y="3128962"/>
            <a:ext cx="495300" cy="2095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85950" y="3128962"/>
            <a:ext cx="781050" cy="2095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800" y="3386137"/>
            <a:ext cx="895350" cy="2095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95687" y="2528887"/>
            <a:ext cx="133350" cy="1524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71862" y="3128962"/>
            <a:ext cx="552450" cy="2095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71937" y="3128962"/>
            <a:ext cx="666750" cy="20955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86312" y="3128962"/>
            <a:ext cx="323850" cy="20955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71862" y="3386137"/>
            <a:ext cx="723900" cy="20955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9625" y="4186237"/>
            <a:ext cx="133350" cy="15240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5800" y="4786312"/>
            <a:ext cx="723900" cy="20955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457325" y="4786312"/>
            <a:ext cx="495300" cy="20955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000250" y="4786312"/>
            <a:ext cx="723900" cy="20955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567112" y="4186237"/>
            <a:ext cx="190500" cy="15240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471862" y="4786312"/>
            <a:ext cx="495300" cy="209550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14787" y="4786312"/>
            <a:ext cx="952500" cy="209550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014912" y="4786312"/>
            <a:ext cx="723900" cy="2095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Technology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Stack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5475"/>
            <a:ext cx="5457825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85775" y="3195637"/>
            <a:ext cx="5457825" cy="142875"/>
          </a:xfrm>
          <a:prstGeom prst="rect">
            <a:avLst/>
          </a:prstGeom>
          <a:noFill/>
        </p:spPr>
        <p:txBody>
          <a:bodyPr wrap="square" lIns="85725" rIns="0" tIns="0" bIns="0" anchor="t">
            <a:spAutoFit/>
          </a:bodyPr>
          <a:lstStyle/>
          <a:p>
            <a:pPr algn="ctr"/>
            <a:r>
              <a:rPr b="0" sz="900" i="0" u="none">
                <a:solidFill>
                  <a:srgbClr val="38BDF8"/>
                </a:solidFill>
                <a:latin typeface="Plus Jakarta Sans"/>
              </a:rPr>
              <a:t>REST API calls (axios)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5775" y="4071937"/>
            <a:ext cx="5457825" cy="142875"/>
          </a:xfrm>
          <a:prstGeom prst="rect">
            <a:avLst/>
          </a:prstGeom>
          <a:noFill/>
        </p:spPr>
        <p:txBody>
          <a:bodyPr wrap="square" lIns="85725" rIns="0" tIns="0" bIns="0" anchor="t">
            <a:spAutoFit/>
          </a:bodyPr>
          <a:lstStyle/>
          <a:p>
            <a:pPr algn="ctr"/>
            <a:r>
              <a:rPr b="0" sz="900" i="0" u="none">
                <a:solidFill>
                  <a:srgbClr val="38BDF8"/>
                </a:solidFill>
                <a:latin typeface="Plus Jakarta Sans"/>
              </a:rPr>
              <a:t>mysql2 &amp; HTTPS SSL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7925" y="1905000"/>
            <a:ext cx="5438775" cy="36004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" y="2733675"/>
            <a:ext cx="238125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3214687"/>
            <a:ext cx="85725" cy="1143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" y="3609975"/>
            <a:ext cx="171450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14612" y="4090987"/>
            <a:ext cx="85725" cy="1143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650" y="4486275"/>
            <a:ext cx="17145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1075" y="2671762"/>
            <a:ext cx="156210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12" i="0" u="none">
                <a:solidFill>
                  <a:srgbClr val="FFFFFF"/>
                </a:solidFill>
                <a:latin typeface="Plus Jakarta Sans"/>
              </a:rPr>
              <a:t>Client Layer (Vercel Edge)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75" y="2843212"/>
            <a:ext cx="17811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0" sz="900" i="0" u="none">
                <a:solidFill>
                  <a:srgbClr val="9CA3AF"/>
                </a:solidFill>
                <a:latin typeface="Plus Jakarta Sans"/>
              </a:rPr>
              <a:t>React 18 + Vite 6 Single Page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48062"/>
            <a:ext cx="18192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12" i="0" u="none">
                <a:solidFill>
                  <a:srgbClr val="FFFFFF"/>
                </a:solidFill>
                <a:latin typeface="Plus Jakarta Sans"/>
              </a:rPr>
              <a:t>Server Layer (Render Service)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19512"/>
            <a:ext cx="18192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0" sz="900" i="0" u="none">
                <a:solidFill>
                  <a:srgbClr val="9CA3AF"/>
                </a:solidFill>
                <a:latin typeface="Plus Jakarta Sans"/>
              </a:rPr>
              <a:t>Node.js / Express 5 API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24362"/>
            <a:ext cx="160972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12" i="0" u="none">
                <a:solidFill>
                  <a:srgbClr val="FFFFFF"/>
                </a:solidFill>
                <a:latin typeface="Plus Jakarta Sans"/>
              </a:rPr>
              <a:t>Persistence &amp; Cloud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95812"/>
            <a:ext cx="18383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0" sz="900" i="0" u="none">
                <a:solidFill>
                  <a:srgbClr val="9CA3AF"/>
                </a:solidFill>
                <a:latin typeface="Plus Jakarta Sans"/>
              </a:rPr>
              <a:t>TiDB Cloud DB + Google Gemini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System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5475"/>
            <a:ext cx="5457825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451496"/>
            <a:ext cx="5457825" cy="75961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" y="3325415"/>
            <a:ext cx="5457825" cy="75961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775" y="4199334"/>
            <a:ext cx="5457825" cy="759618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7925" y="1905000"/>
            <a:ext cx="5438775" cy="3600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2632471"/>
            <a:ext cx="5310663" cy="180975"/>
          </a:xfrm>
          <a:prstGeom prst="rect">
            <a:avLst/>
          </a:prstGeom>
          <a:noFill/>
        </p:spPr>
        <p:txBody>
          <a:bodyPr wrap="square" lIns="142875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38BDF8"/>
                </a:solidFill>
                <a:latin typeface="Plus Jakarta Sans"/>
              </a:rPr>
              <a:t>Dark Glassmorphism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51546"/>
            <a:ext cx="5057775" cy="178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b="0" sz="937" i="0" u="none">
                <a:solidFill>
                  <a:srgbClr val="CBD5E1"/>
                </a:solidFill>
                <a:latin typeface="Plus Jakarta Sans"/>
              </a:rPr>
              <a:t>Responsive aesthetic with Framer Motion animations across all screen sizes.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06390"/>
            <a:ext cx="5310663" cy="180975"/>
          </a:xfrm>
          <a:prstGeom prst="rect">
            <a:avLst/>
          </a:prstGeom>
          <a:noFill/>
        </p:spPr>
        <p:txBody>
          <a:bodyPr wrap="square" lIns="123825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38BDF8"/>
                </a:solidFill>
                <a:latin typeface="Plus Jakarta Sans"/>
              </a:rPr>
              <a:t>Dynamic DB Content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25465"/>
            <a:ext cx="5057775" cy="178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b="0" sz="937" i="0" u="none">
                <a:solidFill>
                  <a:srgbClr val="CBD5E1"/>
                </a:solidFill>
                <a:latin typeface="Plus Jakarta Sans"/>
              </a:rPr>
              <a:t>Projects, Skills, Experience, and Certificates are 100% database-driven.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80309"/>
            <a:ext cx="5310663" cy="180975"/>
          </a:xfrm>
          <a:prstGeom prst="rect">
            <a:avLst/>
          </a:prstGeom>
          <a:noFill/>
        </p:spPr>
        <p:txBody>
          <a:bodyPr wrap="square" lIns="142875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38BDF8"/>
                </a:solidFill>
                <a:latin typeface="Plus Jakarta Sans"/>
              </a:rPr>
              <a:t>JWT Admin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99384"/>
            <a:ext cx="5057775" cy="178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b="0" sz="937" i="0" u="none">
                <a:solidFill>
                  <a:srgbClr val="CBD5E1"/>
                </a:solidFill>
                <a:latin typeface="Plus Jakarta Sans"/>
              </a:rPr>
              <a:t>Full CRUD management with Cloudinary cloud media uploads.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661046"/>
            <a:ext cx="142875" cy="1428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534965"/>
            <a:ext cx="123825" cy="1428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4408884"/>
            <a:ext cx="142875" cy="1428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Core Application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5475"/>
            <a:ext cx="5457825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440781"/>
            <a:ext cx="5457825" cy="77866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" y="3333750"/>
            <a:ext cx="5457825" cy="77866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775" y="4226718"/>
            <a:ext cx="5457825" cy="7429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7925" y="1905000"/>
            <a:ext cx="5438775" cy="3600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2621756"/>
            <a:ext cx="5310663" cy="200025"/>
          </a:xfrm>
          <a:prstGeom prst="rect">
            <a:avLst/>
          </a:prstGeom>
          <a:noFill/>
        </p:spPr>
        <p:txBody>
          <a:bodyPr wrap="square" lIns="15240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8BDF8"/>
                </a:solidFill>
                <a:latin typeface="Plus Jakarta Sans"/>
              </a:rPr>
              <a:t>Interactive AI Explanations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59881"/>
            <a:ext cx="5057775" cy="178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b="0" sz="937" i="0" u="none">
                <a:solidFill>
                  <a:srgbClr val="CBD5E1"/>
                </a:solidFill>
                <a:latin typeface="Plus Jakarta Sans"/>
              </a:rPr>
              <a:t>Clicking skills or certificates invokes Gemini for clear plain-language technical summaries.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14725"/>
            <a:ext cx="5310663" cy="200025"/>
          </a:xfrm>
          <a:prstGeom prst="rect">
            <a:avLst/>
          </a:prstGeom>
          <a:noFill/>
        </p:spPr>
        <p:txBody>
          <a:bodyPr wrap="square" lIns="19050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C084FC"/>
                </a:solidFill>
                <a:latin typeface="Plus Jakarta Sans"/>
              </a:rPr>
              <a:t>"Ask AI About Me"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52850"/>
            <a:ext cx="5057775" cy="178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b="0" sz="937" i="0" u="none">
                <a:solidFill>
                  <a:srgbClr val="CBD5E1"/>
                </a:solidFill>
                <a:latin typeface="Plus Jakarta Sans"/>
              </a:rPr>
              <a:t>Grounded strictly in actual listed qualifications to prevent hallucinated background claims.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07693"/>
            <a:ext cx="5310663" cy="171450"/>
          </a:xfrm>
          <a:prstGeom prst="rect">
            <a:avLst/>
          </a:prstGeom>
          <a:noFill/>
        </p:spPr>
        <p:txBody>
          <a:bodyPr wrap="square" lIns="142875" rIns="0" tIns="0" bIns="0" anchor="t">
            <a:spAutoFit/>
          </a:bodyPr>
          <a:lstStyle/>
          <a:p>
            <a:pPr algn="l"/>
            <a:r>
              <a:rPr b="1" sz="1087" i="0" u="none">
                <a:solidFill>
                  <a:srgbClr val="34D399"/>
                </a:solidFill>
                <a:latin typeface="Plus Jakarta Sans"/>
              </a:rPr>
              <a:t>Rate Limiting &amp; Fallbacks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617243"/>
            <a:ext cx="50577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0" sz="900" i="0" u="none">
                <a:solidFill>
                  <a:srgbClr val="CBD5E1"/>
                </a:solidFill>
                <a:latin typeface="Plus Jakarta Sans"/>
              </a:rPr>
              <a:t>Per-IP throttling ensures 100% operational uptime.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650331"/>
            <a:ext cx="152400" cy="1524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543300"/>
            <a:ext cx="190500" cy="1524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4436268"/>
            <a:ext cx="142875" cy="1381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AI Integration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(Google Gemini)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390525"/>
            <a:ext cx="5276850" cy="2381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3233737"/>
            <a:ext cx="5276850" cy="121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5775" y="742950"/>
            <a:ext cx="5540692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Live DevOps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Monitoring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9525"/>
            <a:ext cx="6086475" cy="6858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57200"/>
            <a:ext cx="110132" cy="10477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85775" y="1104900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5775" y="3024187"/>
            <a:ext cx="52768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CBD5E1"/>
                </a:solidFill>
                <a:latin typeface="Plus Jakarta Sans"/>
              </a:rPr>
              <a:t>The </a:t>
            </a:r>
            <a:r>
              <a:rPr b="0" sz="1050" i="0" u="none">
                <a:solidFill>
                  <a:srgbClr val="38BDF8"/>
                </a:solidFill>
                <a:latin typeface="Plus Jakarta Sans"/>
              </a:rPr>
              <a:t>/system</a:t>
            </a:r>
            <a:r>
              <a:rPr b="0" sz="1050" i="0" u="none">
                <a:solidFill>
                  <a:srgbClr val="CBD5E1"/>
                </a:solidFill>
                <a:latin typeface="Plus Jakarta Sans"/>
              </a:rPr>
              <a:t> page streams real live metrics from the host server: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775" y="4548187"/>
            <a:ext cx="5276850" cy="171450"/>
          </a:xfrm>
          <a:prstGeom prst="rect">
            <a:avLst/>
          </a:prstGeom>
          <a:noFill/>
        </p:spPr>
        <p:txBody>
          <a:bodyPr wrap="square" lIns="11430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0" sz="900" i="0" u="none">
                <a:solidFill>
                  <a:srgbClr val="9CA3AF"/>
                </a:solidFill>
                <a:latin typeface="Plus Jakarta Sans"/>
              </a:rPr>
              <a:t>Real-time terminal auto-polls every 5 seconds.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775" y="4576762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3357562"/>
            <a:ext cx="5029200" cy="200025"/>
          </a:xfrm>
          <a:prstGeom prst="rect">
            <a:avLst/>
          </a:prstGeom>
          <a:noFill/>
        </p:spPr>
        <p:txBody>
          <a:bodyPr wrap="square" lIns="17145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CBD5E1"/>
                </a:solidFill>
                <a:latin typeface="Plus Jakarta Sans"/>
              </a:rPr>
              <a:t>CPU Load &amp; Memory Usage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614737"/>
            <a:ext cx="5029200" cy="200025"/>
          </a:xfrm>
          <a:prstGeom prst="rect">
            <a:avLst/>
          </a:prstGeom>
          <a:noFill/>
        </p:spPr>
        <p:txBody>
          <a:bodyPr wrap="square" lIns="17145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CBD5E1"/>
                </a:solidFill>
                <a:latin typeface="Plus Jakarta Sans"/>
              </a:rPr>
              <a:t>Live Host Uptime (50+ Days)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871912"/>
            <a:ext cx="5029200" cy="200025"/>
          </a:xfrm>
          <a:prstGeom prst="rect">
            <a:avLst/>
          </a:prstGeom>
          <a:noFill/>
        </p:spPr>
        <p:txBody>
          <a:bodyPr wrap="square" lIns="17145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CBD5E1"/>
                </a:solidFill>
                <a:latin typeface="Plus Jakarta Sans"/>
              </a:rPr>
              <a:t>Docker vs Bare-Node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129087"/>
            <a:ext cx="5029200" cy="200025"/>
          </a:xfrm>
          <a:prstGeom prst="rect">
            <a:avLst/>
          </a:prstGeom>
          <a:noFill/>
        </p:spPr>
        <p:txBody>
          <a:bodyPr wrap="square" lIns="17145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CBD5E1"/>
                </a:solidFill>
                <a:latin typeface="Plus Jakarta Sans"/>
              </a:rPr>
              <a:t>Git Commit Hash Verification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3390900"/>
            <a:ext cx="133350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648075"/>
            <a:ext cx="133350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905250"/>
            <a:ext cx="133350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4162425"/>
            <a:ext cx="114300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5475"/>
            <a:ext cx="5457825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420540"/>
            <a:ext cx="5457825" cy="171211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" y="4246959"/>
            <a:ext cx="5457825" cy="7429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7925" y="1905000"/>
            <a:ext cx="5438775" cy="36004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601515"/>
            <a:ext cx="381000" cy="381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077765"/>
            <a:ext cx="5310663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8BDF8"/>
                </a:solidFill>
                <a:latin typeface="Plus Jakarta Sans"/>
              </a:rPr>
              <a:t>Multi-Stage Container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15890"/>
            <a:ext cx="5057775" cy="178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b="0" sz="937" i="0" u="none">
                <a:solidFill>
                  <a:srgbClr val="CBD5E1"/>
                </a:solidFill>
                <a:latin typeface="Plus Jakarta Sans"/>
              </a:rPr>
              <a:t>Independent Dockerfiles for Client (Nginx) and Server (Node.js).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27934"/>
            <a:ext cx="5310663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87" i="0" u="none">
                <a:solidFill>
                  <a:srgbClr val="34D399"/>
                </a:solidFill>
                <a:latin typeface="Plus Jakarta Sans"/>
              </a:rPr>
              <a:t>Local Dev Parity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637484"/>
            <a:ext cx="50577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0" sz="900" i="0" u="none">
                <a:solidFill>
                  <a:srgbClr val="CBD5E1"/>
                </a:solidFill>
                <a:latin typeface="Plus Jakarta Sans"/>
              </a:rPr>
              <a:t>Docker Compose mirrors cloud production environment.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050" y="2715815"/>
            <a:ext cx="190500" cy="152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3551634"/>
            <a:ext cx="505777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CBD5E1"/>
                </a:solidFill>
                <a:latin typeface="Plus Jakarta Sans"/>
              </a:rPr>
              <a:t>• Non-root process execution for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51659"/>
            <a:ext cx="505777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CBD5E1"/>
                </a:solidFill>
                <a:latin typeface="Plus Jakarta Sans"/>
              </a:rPr>
              <a:t>• Minimal alpine base images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Containerization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(Docker)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5475"/>
            <a:ext cx="5457825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817018"/>
            <a:ext cx="2671762" cy="83105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1837" y="2817018"/>
            <a:ext cx="2671762" cy="83105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" y="3762375"/>
            <a:ext cx="2671762" cy="831056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1837" y="3762375"/>
            <a:ext cx="2671762" cy="83105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7925" y="1905000"/>
            <a:ext cx="5438775" cy="36004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7700" y="2959893"/>
            <a:ext cx="2347912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787" i="0" u="none">
                <a:solidFill>
                  <a:srgbClr val="38BDF8"/>
                </a:solidFill>
                <a:latin typeface="JetBrains Mono"/>
              </a:rPr>
              <a:t>STAGE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3131343"/>
            <a:ext cx="2465308" cy="171450"/>
          </a:xfrm>
          <a:prstGeom prst="rect">
            <a:avLst/>
          </a:prstGeom>
          <a:noFill/>
        </p:spPr>
        <p:txBody>
          <a:bodyPr wrap="square" lIns="17145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38BDF8"/>
                </a:solidFill>
                <a:latin typeface="Plus Jakarta Sans"/>
              </a:rPr>
              <a:t>Hadolint Linting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3340893"/>
            <a:ext cx="2347912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b="0" sz="862" i="0" u="none">
                <a:solidFill>
                  <a:srgbClr val="CBD5E1"/>
                </a:solidFill>
                <a:latin typeface="Plus Jakarta Sans"/>
              </a:rPr>
              <a:t>Enforces Dockerfile best practices.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3762" y="2959893"/>
            <a:ext cx="2347912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787" i="0" u="none">
                <a:solidFill>
                  <a:srgbClr val="38BDF8"/>
                </a:solidFill>
                <a:latin typeface="JetBrains Mono"/>
              </a:rPr>
              <a:t>STAGE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3762" y="3131343"/>
            <a:ext cx="2465308" cy="171450"/>
          </a:xfrm>
          <a:prstGeom prst="rect">
            <a:avLst/>
          </a:prstGeom>
          <a:noFill/>
        </p:spPr>
        <p:txBody>
          <a:bodyPr wrap="square" lIns="15240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38BDF8"/>
                </a:solidFill>
                <a:latin typeface="Plus Jakarta Sans"/>
              </a:rPr>
              <a:t>Stack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3762" y="3340893"/>
            <a:ext cx="2347912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b="0" sz="862" i="0" u="none">
                <a:solidFill>
                  <a:srgbClr val="CBD5E1"/>
                </a:solidFill>
                <a:latin typeface="Plus Jakarta Sans"/>
              </a:rPr>
              <a:t>Validates Compose &amp; builds images.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3905250"/>
            <a:ext cx="2347912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787" i="0" u="none">
                <a:solidFill>
                  <a:srgbClr val="38BDF8"/>
                </a:solidFill>
                <a:latin typeface="JetBrains Mono"/>
              </a:rPr>
              <a:t>STAGE 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4076700"/>
            <a:ext cx="2465308" cy="171450"/>
          </a:xfrm>
          <a:prstGeom prst="rect">
            <a:avLst/>
          </a:prstGeom>
          <a:noFill/>
        </p:spPr>
        <p:txBody>
          <a:bodyPr wrap="square" lIns="13335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38BDF8"/>
                </a:solidFill>
                <a:latin typeface="Plus Jakarta Sans"/>
              </a:rPr>
              <a:t>Smoke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4286250"/>
            <a:ext cx="2347912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b="0" sz="862" i="0" u="none">
                <a:solidFill>
                  <a:srgbClr val="CBD5E1"/>
                </a:solidFill>
                <a:latin typeface="Plus Jakarta Sans"/>
              </a:rPr>
              <a:t>Spins stack &amp; verifies endpoints.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3762" y="3905250"/>
            <a:ext cx="2347912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787" i="0" u="none">
                <a:solidFill>
                  <a:srgbClr val="34D399"/>
                </a:solidFill>
                <a:latin typeface="JetBrains Mono"/>
              </a:rPr>
              <a:t>STAGE 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3762" y="4076700"/>
            <a:ext cx="2465308" cy="171450"/>
          </a:xfrm>
          <a:prstGeom prst="rect">
            <a:avLst/>
          </a:prstGeom>
          <a:noFill/>
        </p:spPr>
        <p:txBody>
          <a:bodyPr wrap="square" lIns="13335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34D399"/>
                </a:solidFill>
                <a:latin typeface="Plus Jakarta Sans"/>
              </a:rPr>
              <a:t>Auto Deploy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3762" y="4286250"/>
            <a:ext cx="2347912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b="0" sz="862" i="0" u="none">
                <a:solidFill>
                  <a:srgbClr val="CBD5E1"/>
                </a:solidFill>
                <a:latin typeface="Plus Jakarta Sans"/>
              </a:rPr>
              <a:t>Triggers Vercel &amp; Render hooks.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3159918"/>
            <a:ext cx="171450" cy="1333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3762" y="3159918"/>
            <a:ext cx="152400" cy="1333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4105275"/>
            <a:ext cx="133350" cy="1333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33762" y="4105275"/>
            <a:ext cx="133350" cy="1333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CI/CD Pipeline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(GitHub Actions)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5475"/>
            <a:ext cx="5457825" cy="36195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85775" y="2600325"/>
            <a:ext cx="5457825" cy="2209800"/>
          </a:xfrm>
          <a:prstGeom prst="roundRect">
            <a:avLst>
              <a:gd name="adj" fmla="val 0"/>
            </a:avLst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85775" y="2600325"/>
          <a:ext cx="5448299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1531887"/>
                <a:gridCol w="3916412"/>
              </a:tblGrid>
              <a:tr h="368300">
                <a:tc>
                  <a:txBody>
                    <a:bodyPr/>
                    <a:lstStyle/>
                    <a:p>
                      <a:pPr algn="l"/>
                      <a:r>
                        <a:rPr b="1" sz="975" i="0" u="none">
                          <a:solidFill>
                            <a:srgbClr val="38BDF8"/>
                          </a:solidFill>
                          <a:latin typeface="Plus Jakarta Sans"/>
                        </a:rPr>
                        <a:t>Table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75" i="0" u="none">
                          <a:solidFill>
                            <a:srgbClr val="38BDF8"/>
                          </a:solidFill>
                          <a:latin typeface="Plus Jakarta Sans"/>
                        </a:rPr>
                        <a:t>Core Fields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38BDF8"/>
                          </a:solidFill>
                          <a:latin typeface="JetBrains Mono"/>
                        </a:rPr>
                        <a:t>users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E2E8F0"/>
                          </a:solidFill>
                          <a:latin typeface="JetBrains Mono"/>
                        </a:rPr>
                        <a:t>id, username, password_hash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38BDF8"/>
                          </a:solidFill>
                          <a:latin typeface="JetBrains Mono"/>
                        </a:rPr>
                        <a:t>projects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E2E8F0"/>
                          </a:solidFill>
                          <a:latin typeface="JetBrains Mono"/>
                        </a:rPr>
                        <a:t>id, title, desc, github_url, demo_url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38BDF8"/>
                          </a:solidFill>
                          <a:latin typeface="JetBrains Mono"/>
                        </a:rPr>
                        <a:t>skills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E2E8F0"/>
                          </a:solidFill>
                          <a:latin typeface="JetBrains Mono"/>
                        </a:rPr>
                        <a:t>id, name, proficiency_level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38BDF8"/>
                          </a:solidFill>
                          <a:latin typeface="JetBrains Mono"/>
                        </a:rPr>
                        <a:t>certificates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E2E8F0"/>
                          </a:solidFill>
                          <a:latin typeface="JetBrains Mono"/>
                        </a:rPr>
                        <a:t>id, title, issuer, credential_url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38BDF8"/>
                          </a:solidFill>
                          <a:latin typeface="JetBrains Mono"/>
                        </a:rPr>
                        <a:t>messages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E2E8F0"/>
                          </a:solidFill>
                          <a:latin typeface="JetBrains Mono"/>
                        </a:rPr>
                        <a:t>id, sender_name, email, message_text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90537" y="2986087"/>
            <a:ext cx="153188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22425" y="2986087"/>
            <a:ext cx="3916412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7925" y="1905000"/>
            <a:ext cx="5438775" cy="36004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90537" y="3348037"/>
            <a:ext cx="153188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22425" y="3348037"/>
            <a:ext cx="3916412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0537" y="3709987"/>
            <a:ext cx="153188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22425" y="3709987"/>
            <a:ext cx="3916412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0537" y="4071937"/>
            <a:ext cx="153188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2425" y="4071937"/>
            <a:ext cx="3916412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0537" y="4433887"/>
            <a:ext cx="153188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22425" y="4433887"/>
            <a:ext cx="3916412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0537" y="4795837"/>
            <a:ext cx="153188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22425" y="4795837"/>
            <a:ext cx="3916412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Database Design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(TiDB Cloud)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5475"/>
            <a:ext cx="5457825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493168"/>
            <a:ext cx="2681287" cy="116443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312" y="2493168"/>
            <a:ext cx="2681287" cy="1164431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" y="3752850"/>
            <a:ext cx="2681287" cy="1164431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2312" y="3752850"/>
            <a:ext cx="2681287" cy="1164431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7925" y="1905000"/>
            <a:ext cx="5438775" cy="3600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674143"/>
            <a:ext cx="381000" cy="381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150393"/>
            <a:ext cx="239529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12" i="0" u="none">
                <a:solidFill>
                  <a:srgbClr val="FFFFFF"/>
                </a:solidFill>
                <a:latin typeface="Plus Jakarta Sans"/>
              </a:rPr>
              <a:t>Auth &amp; Hashing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12318"/>
            <a:ext cx="2281237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b="0" sz="862" i="0" u="none">
                <a:solidFill>
                  <a:srgbClr val="CBD5E1"/>
                </a:solidFill>
                <a:latin typeface="Plus Jakarta Sans"/>
              </a:rPr>
              <a:t>JWT + bcrypt salting.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2337" y="2674143"/>
            <a:ext cx="381000" cy="381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62337" y="3150393"/>
            <a:ext cx="239529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12" i="0" u="none">
                <a:solidFill>
                  <a:srgbClr val="FFFFFF"/>
                </a:solidFill>
                <a:latin typeface="Plus Jakarta Sans"/>
              </a:rPr>
              <a:t>Helmet Headers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2337" y="3312318"/>
            <a:ext cx="2281237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b="0" sz="862" i="0" u="none">
                <a:solidFill>
                  <a:srgbClr val="CBD5E1"/>
                </a:solidFill>
                <a:latin typeface="Plus Jakarta Sans"/>
              </a:rPr>
              <a:t>Protects against XSS.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933825"/>
            <a:ext cx="381000" cy="381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5800" y="4410075"/>
            <a:ext cx="239529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12" i="0" u="none">
                <a:solidFill>
                  <a:srgbClr val="FFFFFF"/>
                </a:solidFill>
                <a:latin typeface="Plus Jakarta Sans"/>
              </a:rPr>
              <a:t>Rate Limiting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72000"/>
            <a:ext cx="2281237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b="0" sz="862" i="0" u="none">
                <a:solidFill>
                  <a:srgbClr val="CBD5E1"/>
                </a:solidFill>
                <a:latin typeface="Plus Jakarta Sans"/>
              </a:rPr>
              <a:t>Throttles AI API calls.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62337" y="3933825"/>
            <a:ext cx="381000" cy="381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462337" y="4410075"/>
            <a:ext cx="239529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12" i="0" u="none">
                <a:solidFill>
                  <a:srgbClr val="FFFFFF"/>
                </a:solidFill>
                <a:latin typeface="Plus Jakarta Sans"/>
              </a:rPr>
              <a:t>Secrets Isolation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2337" y="4572000"/>
            <a:ext cx="2281237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b="0" sz="862" i="0" u="none">
                <a:solidFill>
                  <a:srgbClr val="CBD5E1"/>
                </a:solidFill>
                <a:latin typeface="Plus Jakarta Sans"/>
              </a:rPr>
              <a:t>Zero plaintext leaks.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" y="2788443"/>
            <a:ext cx="152400" cy="1524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76637" y="2788443"/>
            <a:ext cx="152400" cy="1524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100" y="4048125"/>
            <a:ext cx="152400" cy="1524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86162" y="4048125"/>
            <a:ext cx="133350" cy="15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Security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by Design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5475"/>
            <a:ext cx="5457825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566987"/>
            <a:ext cx="5457825" cy="6953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3357562"/>
            <a:ext cx="5457825" cy="6953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4148137"/>
            <a:ext cx="5457825" cy="6953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925" y="1905000"/>
            <a:ext cx="5438775" cy="3600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690812"/>
            <a:ext cx="1231106" cy="2381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2967037"/>
            <a:ext cx="52101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1" sz="900" i="0" u="none">
                <a:solidFill>
                  <a:srgbClr val="CBD5E1"/>
                </a:solidFill>
                <a:latin typeface="Plus Jakarta Sans"/>
              </a:rPr>
              <a:t>Fix:</a:t>
            </a:r>
            <a:r>
              <a:rPr b="0" sz="900" i="0" u="none">
                <a:solidFill>
                  <a:srgbClr val="CBD5E1"/>
                </a:solidFill>
                <a:latin typeface="Plus Jakarta Sans"/>
              </a:rPr>
              <a:t> Decoupled DB SSL enforcement from </a:t>
            </a:r>
            <a:r>
              <a:rPr b="0" sz="900" i="0" u="none">
                <a:solidFill>
                  <a:srgbClr val="CBD5E1"/>
                </a:solidFill>
                <a:latin typeface="Plus Jakarta Sans"/>
              </a:rPr>
              <a:t>NODE_ENV</a:t>
            </a:r>
            <a:r>
              <a:rPr b="0" sz="900" i="0" u="none">
                <a:solidFill>
                  <a:srgbClr val="CBD5E1"/>
                </a:solidFill>
                <a:latin typeface="Plus Jakarta Sans"/>
              </a:rPr>
              <a:t> for local CI MySQL testing.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481387"/>
            <a:ext cx="1201638" cy="2381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757612"/>
            <a:ext cx="52101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1" sz="900" i="0" u="none">
                <a:solidFill>
                  <a:srgbClr val="CBD5E1"/>
                </a:solidFill>
                <a:latin typeface="Plus Jakarta Sans"/>
              </a:rPr>
              <a:t>Fix:</a:t>
            </a:r>
            <a:r>
              <a:rPr b="0" sz="900" i="0" u="none">
                <a:solidFill>
                  <a:srgbClr val="CBD5E1"/>
                </a:solidFill>
                <a:latin typeface="Plus Jakarta Sans"/>
              </a:rPr>
              <a:t> Handled 3 rounds of API model deprecations via dynamic error log tracing &amp; fallbacks.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4271962"/>
            <a:ext cx="1417439" cy="238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548187"/>
            <a:ext cx="52101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1" sz="900" i="0" u="none">
                <a:solidFill>
                  <a:srgbClr val="CBD5E1"/>
                </a:solidFill>
                <a:latin typeface="Plus Jakarta Sans"/>
              </a:rPr>
              <a:t>Fix:</a:t>
            </a:r>
            <a:r>
              <a:rPr b="0" sz="900" i="0" u="none">
                <a:solidFill>
                  <a:srgbClr val="CBD5E1"/>
                </a:solidFill>
                <a:latin typeface="Plus Jakarta Sans"/>
              </a:rPr>
              <a:t> Corrected SQL schema scripts writing to default system databases.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Challenges &amp;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Real Fixes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5475"/>
            <a:ext cx="5457825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652712"/>
            <a:ext cx="5457825" cy="6381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3386137"/>
            <a:ext cx="5457825" cy="6381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4119562"/>
            <a:ext cx="5457825" cy="6381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925" y="1905000"/>
            <a:ext cx="5438775" cy="3600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2776537"/>
            <a:ext cx="5470683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38BDF8"/>
                </a:solidFill>
                <a:latin typeface="Plus Jakarta Sans"/>
              </a:rPr>
              <a:t>Frontend: Vercel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95612"/>
            <a:ext cx="52101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0" sz="900" i="0" u="none">
                <a:solidFill>
                  <a:srgbClr val="CBD5E1"/>
                </a:solidFill>
                <a:latin typeface="Plus Jakarta Sans"/>
              </a:rPr>
              <a:t>Auto-deploys on push to main branch with global edge CDN distribution.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509962"/>
            <a:ext cx="5470683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C084FC"/>
                </a:solidFill>
                <a:latin typeface="Plus Jakarta Sans"/>
              </a:rPr>
              <a:t>Backend: Render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29037"/>
            <a:ext cx="52101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0" sz="900" i="0" u="none">
                <a:solidFill>
                  <a:srgbClr val="CBD5E1"/>
                </a:solidFill>
                <a:latin typeface="Plus Jakarta Sans"/>
              </a:rPr>
              <a:t>Node web service with automated health checks at </a:t>
            </a:r>
            <a:r>
              <a:rPr b="0" sz="900" i="0" u="none">
                <a:solidFill>
                  <a:srgbClr val="CBD5E1"/>
                </a:solidFill>
                <a:latin typeface="Plus Jakarta Sans"/>
              </a:rPr>
              <a:t>/api/health</a:t>
            </a:r>
            <a:r>
              <a:rPr b="0" sz="900" i="0" u="none">
                <a:solidFill>
                  <a:srgbClr val="CBD5E1"/>
                </a:solidFill>
                <a:latin typeface="Plus Jakarta San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3387"/>
            <a:ext cx="5470683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34D399"/>
                </a:solidFill>
                <a:latin typeface="Plus Jakarta Sans"/>
              </a:rPr>
              <a:t>Database: TiDB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62462"/>
            <a:ext cx="52101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b="0" sz="900" i="0" u="none">
                <a:solidFill>
                  <a:srgbClr val="CBD5E1"/>
                </a:solidFill>
                <a:latin typeface="Plus Jakarta Sans"/>
              </a:rPr>
              <a:t>Serverless MySQL database with auto-scaling and connection pooling.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Production </a:t>
            </a:r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Deployment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619250"/>
            <a:ext cx="5457825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063353"/>
            <a:ext cx="1488430" cy="2381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" y="3634978"/>
            <a:ext cx="5457825" cy="11691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2415778"/>
            <a:ext cx="57307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Plus Jakarta Sans"/>
              </a:rPr>
              <a:t>What's Next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7925" y="1628775"/>
            <a:ext cx="5438775" cy="3600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130028"/>
            <a:ext cx="119657" cy="1047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275" y="2730103"/>
            <a:ext cx="5267325" cy="200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CBD5E1"/>
                </a:solidFill>
                <a:latin typeface="Plus Jakarta Sans"/>
              </a:rPr>
              <a:t>WebSocket Live Push:</a:t>
            </a:r>
            <a:r>
              <a:rPr b="0" sz="1050" i="0" u="none">
                <a:solidFill>
                  <a:srgbClr val="CBD5E1"/>
                </a:solidFill>
                <a:latin typeface="Plus Jakarta Sans"/>
              </a:rPr>
              <a:t> Replace 5s HTTP polling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325" y="3006328"/>
            <a:ext cx="5248275" cy="200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CBD5E1"/>
                </a:solidFill>
                <a:latin typeface="Plus Jakarta Sans"/>
              </a:rPr>
              <a:t>Linux VM Instance:</a:t>
            </a:r>
            <a:r>
              <a:rPr b="0" sz="1050" i="0" u="none">
                <a:solidFill>
                  <a:srgbClr val="CBD5E1"/>
                </a:solidFill>
                <a:latin typeface="Plus Jakarta Sans"/>
              </a:rPr>
              <a:t> Deploy behind Nginx reverse proxy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" y="3282553"/>
            <a:ext cx="5276850" cy="200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CBD5E1"/>
                </a:solidFill>
                <a:latin typeface="Plus Jakarta Sans"/>
              </a:rPr>
              <a:t>Theme Switcher:</a:t>
            </a:r>
            <a:r>
              <a:rPr b="0" sz="1050" i="0" u="none">
                <a:solidFill>
                  <a:srgbClr val="CBD5E1"/>
                </a:solidFill>
                <a:latin typeface="Plus Jakarta Sans"/>
              </a:rPr>
              <a:t> Dynamic dark / light theme option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777853"/>
            <a:ext cx="543067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Plus Jakarta Sans"/>
              </a:rPr>
              <a:t>Thank You!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" y="4082653"/>
            <a:ext cx="5172075" cy="1928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b="0" sz="1012" i="0" u="none">
                <a:solidFill>
                  <a:srgbClr val="38BDF8"/>
                </a:solidFill>
                <a:latin typeface="Plus Jakarta Sans"/>
              </a:rPr>
              <a:t>Questions &amp;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650" y="4332684"/>
            <a:ext cx="5172075" cy="328612"/>
          </a:xfrm>
          <a:prstGeom prst="rect">
            <a:avLst/>
          </a:prstGeom>
          <a:noFill/>
        </p:spPr>
        <p:txBody>
          <a:bodyPr wrap="square" lIns="114300" rIns="0" tIns="0" bIns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b="0" sz="862" i="0" u="none">
                <a:solidFill>
                  <a:srgbClr val="CBD5E1"/>
                </a:solidFill>
                <a:latin typeface="JetBrains Mono"/>
              </a:rPr>
              <a:t>portfolio-app-tau-lac.vercel.app</a:t>
            </a:r>
            <a:r>
              <a:t>
</a:t>
            </a:r>
            <a:r>
              <a:rPr b="0" sz="862" i="0" u="none">
                <a:solidFill>
                  <a:srgbClr val="CBD5E1"/>
                </a:solidFill>
                <a:latin typeface="JetBrains Mono"/>
              </a:rPr>
              <a:t> github.com/mayuresh-2601/PORTFOLIO-APP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" y="4370784"/>
            <a:ext cx="114300" cy="109537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650" y="4535090"/>
            <a:ext cx="104775" cy="109537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775" y="2758678"/>
            <a:ext cx="114300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5775" y="3034903"/>
            <a:ext cx="133350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5775" y="3311128"/>
            <a:ext cx="10477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5775" y="2938462"/>
            <a:ext cx="1122045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85775" y="3700462"/>
            <a:ext cx="112204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5775" y="3700462"/>
            <a:ext cx="112204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3081337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81150" y="3088481"/>
            <a:ext cx="10125075" cy="185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b="0" sz="975" i="0" u="none">
                <a:solidFill>
                  <a:srgbClr val="CBD5E1"/>
                </a:solidFill>
                <a:latin typeface="Plus Jakarta Sans"/>
              </a:rPr>
              <a:t>https://www.mdpi.com/applsci/applsci-12-06737/article_deploy/html/images/applsci-12-06737-g003-550.jpg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150" y="3321843"/>
            <a:ext cx="101250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CBD5E1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www.mdpi.com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3852862"/>
            <a:ext cx="857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81150" y="3860006"/>
            <a:ext cx="10125075" cy="185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b="0" sz="975" i="0" u="none">
                <a:solidFill>
                  <a:srgbClr val="CBD5E1"/>
                </a:solidFill>
                <a:latin typeface="Plus Jakarta Sans"/>
              </a:rPr>
              <a:t>https://miro.medium.com/1*rMS2O3n_Nngj6pwRo3gRuA.png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150" y="4093368"/>
            <a:ext cx="101250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CBD5E1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medium.com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775" y="390525"/>
            <a:ext cx="1170622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250" i="0" u="none">
                <a:solidFill>
                  <a:srgbClr val="F9FAFB"/>
                </a:solidFill>
                <a:latin typeface="Plus Jakarta Sans ExtraBold"/>
              </a:rPr>
              <a:t>Image Sources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" y="752475"/>
            <a:ext cx="57150" cy="2476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